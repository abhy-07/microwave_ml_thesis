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753600" cx="17475200"/>
  <p:notesSz cx="17475200" cy="9753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:notes"/>
          <p:cNvSpPr txBox="1"/>
          <p:nvPr>
            <p:ph idx="1" type="body"/>
          </p:nvPr>
        </p:nvSpPr>
        <p:spPr>
          <a:xfrm>
            <a:off x="1747500" y="4632950"/>
            <a:ext cx="13980150" cy="438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:notes"/>
          <p:cNvSpPr/>
          <p:nvPr>
            <p:ph idx="2" type="sldImg"/>
          </p:nvPr>
        </p:nvSpPr>
        <p:spPr>
          <a:xfrm>
            <a:off x="2913100" y="731500"/>
            <a:ext cx="116507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927106" y="503413"/>
            <a:ext cx="11002645" cy="1052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904253" y="1915583"/>
            <a:ext cx="13815694" cy="341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927106" y="503413"/>
            <a:ext cx="11002645" cy="1052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body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subTitle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927106" y="503413"/>
            <a:ext cx="11002645" cy="1052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00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idx="11" type="ft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27106" y="503413"/>
            <a:ext cx="11002645" cy="1052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00" u="none" cap="none" strike="noStrike">
                <a:solidFill>
                  <a:srgbClr val="16161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04253" y="1915583"/>
            <a:ext cx="13815694" cy="341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1" type="ft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97475" y="805752"/>
            <a:ext cx="15680100" cy="18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Uncertainty-Aware Machine Learning for Microwave-Based Body Composition Assessment</a:t>
            </a:r>
            <a:endParaRPr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7"/>
          <p:cNvSpPr txBox="1"/>
          <p:nvPr/>
        </p:nvSpPr>
        <p:spPr>
          <a:xfrm>
            <a:off x="897475" y="3912400"/>
            <a:ext cx="13815600" cy="8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3825">
            <a:spAutoFit/>
          </a:bodyPr>
          <a:lstStyle/>
          <a:p>
            <a:pPr indent="0" lvl="0" marL="679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Master’s Thesis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897476" y="5783650"/>
            <a:ext cx="15087000" cy="31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Student: Abhishek Yadav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970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Supervisors: Bappaditya Mandal &amp; Robin Augustine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4604" rtl="0" algn="l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None/>
            </a:pPr>
            <a:r>
              <a:rPr lang="en-US" sz="5000">
                <a:latin typeface="Times New Roman"/>
                <a:ea typeface="Times New Roman"/>
                <a:cs typeface="Times New Roman"/>
                <a:sym typeface="Times New Roman"/>
              </a:rPr>
              <a:t>Department of information Technology, Uppsala University</a:t>
            </a:r>
            <a:endParaRPr sz="5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5625" y="293150"/>
            <a:ext cx="10451400" cy="9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2323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‘Trust Gap’ </a:t>
            </a:r>
            <a:r>
              <a:rPr b="1" lang="en-US" sz="6000">
                <a:solidFill>
                  <a:srgbClr val="1F1F1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</a:t>
            </a:r>
            <a:r>
              <a:rPr b="1" lang="en-US" sz="6000">
                <a:solidFill>
                  <a:srgbClr val="21212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</a:t>
            </a:r>
            <a:r>
              <a:rPr b="1" lang="en-US" sz="6000">
                <a:solidFill>
                  <a:srgbClr val="28282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</a:t>
            </a:r>
            <a:endParaRPr b="1"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8"/>
          <p:cNvSpPr txBox="1"/>
          <p:nvPr/>
        </p:nvSpPr>
        <p:spPr>
          <a:xfrm>
            <a:off x="542793" y="7890394"/>
            <a:ext cx="4725600" cy="1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412115" lvl="0" marL="424180" marR="5080" rtl="0" algn="l">
              <a:lnSpc>
                <a:spcPct val="111475"/>
              </a:lnSpc>
              <a:spcBef>
                <a:spcPts val="0"/>
              </a:spcBef>
              <a:spcAft>
                <a:spcPts val="0"/>
              </a:spcAft>
              <a:buSzPts val="3050"/>
              <a:buFont typeface="Cambria"/>
              <a:buChar char="•"/>
            </a:pPr>
            <a:r>
              <a:rPr b="1" lang="en-US" sz="3050">
                <a:latin typeface="Times New Roman"/>
                <a:ea typeface="Times New Roman"/>
                <a:cs typeface="Times New Roman"/>
                <a:sym typeface="Times New Roman"/>
              </a:rPr>
              <a:t>Current State:</a:t>
            </a:r>
            <a:r>
              <a:rPr lang="en-US" sz="3050">
                <a:latin typeface="Times New Roman"/>
                <a:ea typeface="Times New Roman"/>
                <a:cs typeface="Times New Roman"/>
                <a:sym typeface="Times New Roman"/>
              </a:rPr>
              <a:t> Microwave 	Sensors + Deterministic 	XGBoost</a:t>
            </a:r>
            <a:endParaRPr sz="3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8"/>
          <p:cNvSpPr txBox="1"/>
          <p:nvPr/>
        </p:nvSpPr>
        <p:spPr>
          <a:xfrm>
            <a:off x="6385744" y="7890394"/>
            <a:ext cx="3945300" cy="1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409575" lvl="0" marL="421640" marR="5080" rtl="0" algn="l">
              <a:lnSpc>
                <a:spcPct val="111475"/>
              </a:lnSpc>
              <a:spcBef>
                <a:spcPts val="0"/>
              </a:spcBef>
              <a:spcAft>
                <a:spcPts val="0"/>
              </a:spcAft>
              <a:buSzPts val="3050"/>
              <a:buFont typeface="Cambria"/>
              <a:buChar char="•"/>
            </a:pPr>
            <a:r>
              <a:rPr b="1" lang="en-US" sz="3050">
                <a:latin typeface="Times New Roman"/>
                <a:ea typeface="Times New Roman"/>
                <a:cs typeface="Times New Roman"/>
                <a:sym typeface="Times New Roman"/>
              </a:rPr>
              <a:t>The Problem</a:t>
            </a:r>
            <a:r>
              <a:rPr lang="en-US" sz="3050">
                <a:latin typeface="Times New Roman"/>
                <a:ea typeface="Times New Roman"/>
                <a:cs typeface="Times New Roman"/>
                <a:sym typeface="Times New Roman"/>
              </a:rPr>
              <a:t>: Point	estimates	hide model 	doubt</a:t>
            </a:r>
            <a:endParaRPr sz="3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8"/>
          <p:cNvSpPr txBox="1"/>
          <p:nvPr/>
        </p:nvSpPr>
        <p:spPr>
          <a:xfrm>
            <a:off x="11968323" y="7890394"/>
            <a:ext cx="4140300" cy="1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5225">
            <a:spAutoFit/>
          </a:bodyPr>
          <a:lstStyle/>
          <a:p>
            <a:pPr indent="-414654" lvl="0" marL="426719" marR="5080" rtl="0" algn="l">
              <a:lnSpc>
                <a:spcPct val="111475"/>
              </a:lnSpc>
              <a:spcBef>
                <a:spcPts val="0"/>
              </a:spcBef>
              <a:spcAft>
                <a:spcPts val="0"/>
              </a:spcAft>
              <a:buSzPts val="3050"/>
              <a:buFont typeface="Arial"/>
              <a:buChar char="•"/>
            </a:pPr>
            <a:r>
              <a:rPr lang="en-US" sz="305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3050">
                <a:latin typeface="Times New Roman"/>
                <a:ea typeface="Times New Roman"/>
                <a:cs typeface="Times New Roman"/>
                <a:sym typeface="Times New Roman"/>
              </a:rPr>
              <a:t>Clinical Need</a:t>
            </a:r>
            <a:r>
              <a:rPr lang="en-US" sz="3050">
                <a:latin typeface="Times New Roman"/>
                <a:ea typeface="Times New Roman"/>
                <a:cs typeface="Times New Roman"/>
                <a:sym typeface="Times New Roman"/>
              </a:rPr>
              <a:t>: System must flag uncertain predictions</a:t>
            </a:r>
            <a:endParaRPr sz="30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" name="Google Shape;5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063" y="1849476"/>
            <a:ext cx="13989074" cy="575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7100" y="4640725"/>
            <a:ext cx="7048500" cy="42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9"/>
          <p:cNvSpPr txBox="1"/>
          <p:nvPr>
            <p:ph type="title"/>
          </p:nvPr>
        </p:nvSpPr>
        <p:spPr>
          <a:xfrm>
            <a:off x="927106" y="503413"/>
            <a:ext cx="15659100" cy="9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latin typeface="Times New Roman"/>
                <a:ea typeface="Times New Roman"/>
                <a:cs typeface="Times New Roman"/>
                <a:sym typeface="Times New Roman"/>
              </a:rPr>
              <a:t>Methodology: </a:t>
            </a:r>
            <a:r>
              <a:rPr b="1" lang="en-US" sz="6000">
                <a:solidFill>
                  <a:srgbClr val="1818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From Black </a:t>
            </a:r>
            <a:r>
              <a:rPr b="1" lang="en-US" sz="6000">
                <a:solidFill>
                  <a:srgbClr val="15151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 to Bayesian</a:t>
            </a:r>
            <a:endParaRPr b="1" sz="6000">
              <a:solidFill>
                <a:srgbClr val="15151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9"/>
          <p:cNvSpPr txBox="1"/>
          <p:nvPr/>
        </p:nvSpPr>
        <p:spPr>
          <a:xfrm>
            <a:off x="8715700" y="5608475"/>
            <a:ext cx="7870500" cy="23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Data Sources: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565" lvl="0" marL="669925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Homogeneous Liquid Phantoms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1310" lvl="0" marL="671195" rtl="0" algn="l">
              <a:lnSpc>
                <a:spcPct val="100000"/>
              </a:lnSpc>
              <a:spcBef>
                <a:spcPts val="229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Ex Vivo Porcine Respiratory Organs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9565" lvl="0" marL="679450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3600"/>
              <a:buFont typeface="Times New Roman"/>
              <a:buChar char="•"/>
            </a:pP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Volunteer Measurements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" name="Google Shape;6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7104" y="1555090"/>
            <a:ext cx="15486421" cy="286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1043350" y="798700"/>
            <a:ext cx="15918900" cy="186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9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</a:t>
            </a:r>
            <a:r>
              <a:rPr b="1" lang="en-US" sz="6000">
                <a:solidFill>
                  <a:srgbClr val="1818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Outcome: Enabling Safe </a:t>
            </a:r>
            <a:r>
              <a:rPr b="1" lang="en-US" sz="6000">
                <a:solidFill>
                  <a:srgbClr val="1A1A1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Clinical </a:t>
            </a:r>
            <a:r>
              <a:rPr b="1" lang="en-US" sz="6000">
                <a:solidFill>
                  <a:srgbClr val="18181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Translation</a:t>
            </a:r>
            <a:endParaRPr b="1"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0"/>
          <p:cNvSpPr txBox="1"/>
          <p:nvPr/>
        </p:nvSpPr>
        <p:spPr>
          <a:xfrm>
            <a:off x="10413225" y="2898850"/>
            <a:ext cx="5759100" cy="55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08940" lvl="0" marL="409575" rtl="0" algn="l">
              <a:lnSpc>
                <a:spcPct val="116617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Arial"/>
              <a:buChar char="•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Deliverable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: Clinical Risk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Score.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7035" lvl="0" marL="410209" marR="21590" rtl="0" algn="l">
              <a:lnSpc>
                <a:spcPct val="115942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3600"/>
              <a:buFont typeface="Arial"/>
              <a:buChar char="•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Mechanism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: Automated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flags for high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uncertainty.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SzPts val="3450"/>
              <a:buFont typeface="Arial"/>
              <a:buNone/>
            </a:pPr>
            <a:r>
              <a:t/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79094" lvl="0" marL="387985" marR="53975" rtl="0" algn="l">
              <a:lnSpc>
                <a:spcPct val="112676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SzPts val="3600"/>
              <a:buFont typeface="Arial"/>
              <a:buChar char="•"/>
            </a:pPr>
            <a:r>
              <a:rPr b="1" lang="en-US" sz="3600">
                <a:latin typeface="Times New Roman"/>
                <a:ea typeface="Times New Roman"/>
                <a:cs typeface="Times New Roman"/>
                <a:sym typeface="Times New Roman"/>
              </a:rPr>
              <a:t>Impact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: Bridges </a:t>
            </a:r>
            <a:r>
              <a:rPr lang="en-US" sz="3600">
                <a:solidFill>
                  <a:srgbClr val="0C0C0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gap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between lab capability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600">
                <a:latin typeface="Times New Roman"/>
                <a:ea typeface="Times New Roman"/>
                <a:cs typeface="Times New Roman"/>
                <a:sym typeface="Times New Roman"/>
              </a:rPr>
              <a:t>and patient safety.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10"/>
          <p:cNvSpPr txBox="1"/>
          <p:nvPr/>
        </p:nvSpPr>
        <p:spPr>
          <a:xfrm>
            <a:off x="1524000" y="2253343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70" name="Google Shape;7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00" y="2898850"/>
            <a:ext cx="8145100" cy="571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