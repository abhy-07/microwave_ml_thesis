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45"/>
  </p:normalViewPr>
  <p:slideViewPr>
    <p:cSldViewPr>
      <p:cViewPr varScale="1">
        <p:scale>
          <a:sx n="118" d="100"/>
          <a:sy n="118" d="100"/>
        </p:scale>
        <p:origin x="248" y="3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7106" y="503413"/>
            <a:ext cx="11002645" cy="105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253" y="1915583"/>
            <a:ext cx="13815694" cy="341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7478" y="805744"/>
            <a:ext cx="15680244" cy="3106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dirty="0"/>
              <a:t>Uncertainty-Aware Machine Learning for Microwave-Based Body Composition Assessment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7478" y="3912364"/>
            <a:ext cx="13815694" cy="625171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4340"/>
              </a:spcBef>
              <a:tabLst>
                <a:tab pos="2743200" algn="l"/>
                <a:tab pos="4689475" algn="l"/>
                <a:tab pos="7521575" algn="l"/>
              </a:tabLst>
            </a:pPr>
            <a:r>
              <a:rPr sz="3250" dirty="0">
                <a:latin typeface="Arial MT"/>
                <a:cs typeface="Arial MT"/>
              </a:rPr>
              <a:t>M</a:t>
            </a:r>
            <a:r>
              <a:rPr sz="3250" spc="-405" dirty="0">
                <a:latin typeface="Arial MT"/>
                <a:cs typeface="Arial MT"/>
              </a:rPr>
              <a:t> </a:t>
            </a:r>
            <a:r>
              <a:rPr sz="3250" spc="185" dirty="0">
                <a:latin typeface="Arial MT"/>
                <a:cs typeface="Arial MT"/>
              </a:rPr>
              <a:t>AST</a:t>
            </a:r>
            <a:r>
              <a:rPr sz="3250" spc="-380" dirty="0">
                <a:latin typeface="Arial MT"/>
                <a:cs typeface="Arial MT"/>
              </a:rPr>
              <a:t> </a:t>
            </a:r>
            <a:r>
              <a:rPr sz="3250" spc="-225" dirty="0">
                <a:latin typeface="Arial MT"/>
                <a:cs typeface="Arial MT"/>
              </a:rPr>
              <a:t>E</a:t>
            </a:r>
            <a:r>
              <a:rPr sz="3250" spc="-46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R’</a:t>
            </a:r>
            <a:r>
              <a:rPr sz="3250" spc="155" dirty="0">
                <a:latin typeface="Arial MT"/>
                <a:cs typeface="Arial MT"/>
              </a:rPr>
              <a:t> </a:t>
            </a:r>
            <a:r>
              <a:rPr sz="3250" spc="-50" dirty="0">
                <a:latin typeface="Arial MT"/>
                <a:cs typeface="Arial MT"/>
              </a:rPr>
              <a:t>S</a:t>
            </a:r>
            <a:r>
              <a:rPr sz="3250" dirty="0">
                <a:latin typeface="Arial MT"/>
                <a:cs typeface="Arial MT"/>
              </a:rPr>
              <a:t>	</a:t>
            </a:r>
            <a:r>
              <a:rPr sz="3250" spc="110" dirty="0">
                <a:latin typeface="Arial MT"/>
                <a:cs typeface="Arial MT"/>
              </a:rPr>
              <a:t>TH</a:t>
            </a:r>
            <a:r>
              <a:rPr sz="3250" spc="-360" dirty="0">
                <a:latin typeface="Arial MT"/>
                <a:cs typeface="Arial MT"/>
              </a:rPr>
              <a:t> </a:t>
            </a:r>
            <a:r>
              <a:rPr sz="3250" spc="-225" dirty="0">
                <a:latin typeface="Arial MT"/>
                <a:cs typeface="Arial MT"/>
              </a:rPr>
              <a:t>E</a:t>
            </a:r>
            <a:r>
              <a:rPr sz="3250" spc="-450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S</a:t>
            </a:r>
            <a:r>
              <a:rPr sz="3250" spc="-425" dirty="0">
                <a:latin typeface="Arial MT"/>
                <a:cs typeface="Arial MT"/>
              </a:rPr>
              <a:t> </a:t>
            </a:r>
            <a:r>
              <a:rPr sz="3250" spc="-45" dirty="0">
                <a:latin typeface="Arial MT"/>
                <a:cs typeface="Arial MT"/>
              </a:rPr>
              <a:t>I</a:t>
            </a:r>
            <a:r>
              <a:rPr sz="3250" spc="-405" dirty="0">
                <a:latin typeface="Arial MT"/>
                <a:cs typeface="Arial MT"/>
              </a:rPr>
              <a:t> </a:t>
            </a:r>
            <a:r>
              <a:rPr sz="3250" spc="-50" dirty="0">
                <a:latin typeface="Arial MT"/>
                <a:cs typeface="Arial MT"/>
              </a:rPr>
              <a:t>S</a:t>
            </a:r>
            <a:r>
              <a:rPr sz="3250" dirty="0">
                <a:latin typeface="Arial MT"/>
                <a:cs typeface="Arial MT"/>
              </a:rPr>
              <a:t>	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9009" y="7259814"/>
            <a:ext cx="8942705" cy="140487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950" spc="-105" dirty="0">
                <a:latin typeface="Arial MT"/>
                <a:cs typeface="Arial MT"/>
              </a:rPr>
              <a:t>Student</a:t>
            </a:r>
            <a:r>
              <a:rPr sz="2950" spc="-105" dirty="0">
                <a:latin typeface="Arial MT"/>
                <a:cs typeface="Arial MT"/>
              </a:rPr>
              <a:t>: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Abhishek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Yadav</a:t>
            </a:r>
            <a:endParaRPr sz="2950" dirty="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60"/>
              </a:spcBef>
            </a:pPr>
            <a:r>
              <a:rPr sz="2950" spc="-114" dirty="0">
                <a:latin typeface="Arial MT"/>
                <a:cs typeface="Arial MT"/>
              </a:rPr>
              <a:t>Supervisors: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95" dirty="0">
                <a:latin typeface="Arial MT"/>
                <a:cs typeface="Arial MT"/>
              </a:rPr>
              <a:t>Bappaditya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Mandal</a:t>
            </a:r>
            <a:r>
              <a:rPr sz="2950" spc="-75" dirty="0">
                <a:latin typeface="Arial MT"/>
                <a:cs typeface="Arial MT"/>
              </a:rPr>
              <a:t> </a:t>
            </a:r>
            <a:r>
              <a:rPr sz="2950" spc="-245" dirty="0">
                <a:latin typeface="Arial MT"/>
                <a:cs typeface="Arial MT"/>
              </a:rPr>
              <a:t>&amp;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Robin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Augustine</a:t>
            </a:r>
            <a:endParaRPr sz="2950" dirty="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60"/>
              </a:spcBef>
            </a:pPr>
            <a:r>
              <a:rPr sz="2950" spc="-125" dirty="0">
                <a:latin typeface="Arial MT"/>
                <a:cs typeface="Arial MT"/>
              </a:rPr>
              <a:t>Department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spc="-95" dirty="0">
                <a:latin typeface="Arial MT"/>
                <a:cs typeface="Arial MT"/>
              </a:rPr>
              <a:t>information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spc="-165" dirty="0">
                <a:latin typeface="Arial MT"/>
                <a:cs typeface="Arial MT"/>
              </a:rPr>
              <a:t>Technology,</a:t>
            </a:r>
            <a:r>
              <a:rPr sz="2950" dirty="0">
                <a:latin typeface="Arial MT"/>
                <a:cs typeface="Arial MT"/>
              </a:rPr>
              <a:t> </a:t>
            </a:r>
            <a:r>
              <a:rPr sz="2950" spc="-135" dirty="0">
                <a:latin typeface="Arial MT"/>
                <a:cs typeface="Arial MT"/>
              </a:rPr>
              <a:t>Uppsala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95" dirty="0">
                <a:latin typeface="Arial MT"/>
                <a:cs typeface="Arial MT"/>
              </a:rPr>
              <a:t>University</a:t>
            </a:r>
            <a:endParaRPr sz="2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1739900"/>
            <a:ext cx="7721600" cy="6299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1400" y="1282700"/>
            <a:ext cx="152400" cy="6756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6500" y="7353300"/>
            <a:ext cx="736600" cy="165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637" y="293158"/>
            <a:ext cx="8028940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dirty="0">
                <a:solidFill>
                  <a:srgbClr val="232323"/>
                </a:solidFill>
              </a:rPr>
              <a:t>The</a:t>
            </a:r>
            <a:r>
              <a:rPr sz="4800" spc="90" dirty="0">
                <a:solidFill>
                  <a:srgbClr val="232323"/>
                </a:solidFill>
              </a:rPr>
              <a:t> </a:t>
            </a:r>
            <a:r>
              <a:rPr sz="4800" spc="55" dirty="0">
                <a:solidFill>
                  <a:srgbClr val="232323"/>
                </a:solidFill>
              </a:rPr>
              <a:t>‘Trust</a:t>
            </a:r>
            <a:r>
              <a:rPr sz="4800" spc="125" dirty="0">
                <a:solidFill>
                  <a:srgbClr val="232323"/>
                </a:solidFill>
              </a:rPr>
              <a:t> </a:t>
            </a:r>
            <a:r>
              <a:rPr sz="4800" dirty="0">
                <a:solidFill>
                  <a:srgbClr val="232323"/>
                </a:solidFill>
              </a:rPr>
              <a:t>Gap’</a:t>
            </a:r>
            <a:r>
              <a:rPr sz="4800" spc="-175" dirty="0">
                <a:solidFill>
                  <a:srgbClr val="232323"/>
                </a:solidFill>
              </a:rPr>
              <a:t> </a:t>
            </a:r>
            <a:r>
              <a:rPr sz="4800" dirty="0">
                <a:solidFill>
                  <a:srgbClr val="1F1F1F"/>
                </a:solidFill>
              </a:rPr>
              <a:t>in</a:t>
            </a:r>
            <a:r>
              <a:rPr sz="4800" spc="365" dirty="0">
                <a:solidFill>
                  <a:srgbClr val="1F1F1F"/>
                </a:solidFill>
              </a:rPr>
              <a:t> </a:t>
            </a:r>
            <a:r>
              <a:rPr sz="4800" spc="90" dirty="0">
                <a:solidFill>
                  <a:srgbClr val="212121"/>
                </a:solidFill>
              </a:rPr>
              <a:t>Clinical</a:t>
            </a:r>
            <a:r>
              <a:rPr sz="4800" spc="204" dirty="0">
                <a:solidFill>
                  <a:srgbClr val="212121"/>
                </a:solidFill>
              </a:rPr>
              <a:t> </a:t>
            </a:r>
            <a:r>
              <a:rPr sz="4800" spc="114" dirty="0">
                <a:solidFill>
                  <a:srgbClr val="282828"/>
                </a:solidFill>
              </a:rPr>
              <a:t>Al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583526" y="6444544"/>
            <a:ext cx="828675" cy="5676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1435" marR="5080" indent="-39370">
              <a:lnSpc>
                <a:spcPts val="2100"/>
              </a:lnSpc>
              <a:spcBef>
                <a:spcPts val="225"/>
              </a:spcBef>
            </a:pPr>
            <a:r>
              <a:rPr sz="1800" spc="-35" dirty="0">
                <a:latin typeface="Cambria"/>
                <a:cs typeface="Cambria"/>
              </a:rPr>
              <a:t>Antenna </a:t>
            </a:r>
            <a:r>
              <a:rPr sz="1800" spc="-10" dirty="0">
                <a:latin typeface="Cambria"/>
                <a:cs typeface="Cambria"/>
              </a:rPr>
              <a:t>Sensors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8295" y="1201913"/>
            <a:ext cx="254952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72565" algn="l"/>
              </a:tabLst>
            </a:pPr>
            <a:r>
              <a:rPr sz="2950" spc="-10" dirty="0">
                <a:latin typeface="Cambria"/>
                <a:cs typeface="Cambria"/>
              </a:rPr>
              <a:t>Physical</a:t>
            </a:r>
            <a:r>
              <a:rPr sz="2950" dirty="0">
                <a:latin typeface="Cambria"/>
                <a:cs typeface="Cambria"/>
              </a:rPr>
              <a:t>	</a:t>
            </a:r>
            <a:r>
              <a:rPr sz="2950" spc="-65" dirty="0">
                <a:latin typeface="Cambria"/>
                <a:cs typeface="Cambria"/>
              </a:rPr>
              <a:t>Reality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6371" y="3016955"/>
            <a:ext cx="858519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75" dirty="0">
                <a:latin typeface="Times New Roman"/>
                <a:cs typeface="Times New Roman"/>
              </a:rPr>
              <a:t>Analyzer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5965" y="5224286"/>
            <a:ext cx="299974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1735455" algn="l"/>
              </a:tabLst>
            </a:pPr>
            <a:r>
              <a:rPr sz="3000" spc="-15" baseline="1388" dirty="0">
                <a:latin typeface="Cambria"/>
                <a:cs typeface="Cambria"/>
              </a:rPr>
              <a:t>5</a:t>
            </a:r>
            <a:r>
              <a:rPr sz="3000" spc="-15" baseline="-8333" dirty="0">
                <a:latin typeface="Cambria"/>
                <a:cs typeface="Cambria"/>
              </a:rPr>
              <a:t>21</a:t>
            </a:r>
            <a:r>
              <a:rPr sz="3000" spc="-15" baseline="1388" dirty="0">
                <a:latin typeface="Cambria"/>
                <a:cs typeface="Cambria"/>
              </a:rPr>
              <a:t>(Magnitude</a:t>
            </a:r>
            <a:r>
              <a:rPr sz="3000" baseline="1388" dirty="0">
                <a:latin typeface="Cambria"/>
                <a:cs typeface="Cambria"/>
              </a:rPr>
              <a:t>	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Phase)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7840" y="6999464"/>
            <a:ext cx="148399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Cambria"/>
                <a:cs typeface="Cambria"/>
              </a:rPr>
              <a:t>XgBoost</a:t>
            </a:r>
            <a:r>
              <a:rPr sz="1700" spc="130" dirty="0">
                <a:latin typeface="Cambria"/>
                <a:cs typeface="Cambria"/>
              </a:rPr>
              <a:t>  </a:t>
            </a:r>
            <a:r>
              <a:rPr sz="1700" spc="-10" dirty="0">
                <a:latin typeface="Cambria"/>
                <a:cs typeface="Cambria"/>
              </a:rPr>
              <a:t>Baeed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7805" y="6446308"/>
            <a:ext cx="1214120" cy="10013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300" dirty="0">
                <a:solidFill>
                  <a:srgbClr val="8C3838"/>
                </a:solidFill>
                <a:latin typeface="Cambria"/>
                <a:cs typeface="Cambria"/>
              </a:rPr>
              <a:t>High</a:t>
            </a:r>
            <a:r>
              <a:rPr sz="2300" spc="30" dirty="0">
                <a:solidFill>
                  <a:srgbClr val="8C3838"/>
                </a:solidFill>
                <a:latin typeface="Cambria"/>
                <a:cs typeface="Cambria"/>
              </a:rPr>
              <a:t> </a:t>
            </a:r>
            <a:r>
              <a:rPr sz="2300" spc="-20" dirty="0">
                <a:solidFill>
                  <a:srgbClr val="903334"/>
                </a:solidFill>
                <a:latin typeface="Cambria"/>
                <a:cs typeface="Cambria"/>
              </a:rPr>
              <a:t>Risk</a:t>
            </a:r>
            <a:endParaRPr sz="2300">
              <a:latin typeface="Cambria"/>
              <a:cs typeface="Cambria"/>
            </a:endParaRPr>
          </a:p>
          <a:p>
            <a:pPr marL="10795" algn="ctr">
              <a:lnSpc>
                <a:spcPct val="100000"/>
              </a:lnSpc>
              <a:spcBef>
                <a:spcPts val="90"/>
              </a:spcBef>
            </a:pPr>
            <a:r>
              <a:rPr sz="2050" spc="-10" dirty="0">
                <a:latin typeface="Cambria"/>
                <a:cs typeface="Cambria"/>
              </a:rPr>
              <a:t>Right</a:t>
            </a:r>
            <a:endParaRPr sz="2050">
              <a:latin typeface="Cambria"/>
              <a:cs typeface="Cambria"/>
            </a:endParaRPr>
          </a:p>
          <a:p>
            <a:pPr marL="218440">
              <a:lnSpc>
                <a:spcPct val="100000"/>
              </a:lnSpc>
              <a:spcBef>
                <a:spcPts val="40"/>
              </a:spcBef>
            </a:pPr>
            <a:r>
              <a:rPr sz="1950" spc="30" dirty="0">
                <a:latin typeface="Cambria"/>
                <a:cs typeface="Cambria"/>
              </a:rPr>
              <a:t>Lu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168" y="8228894"/>
            <a:ext cx="4725670" cy="13550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24180" marR="5080" indent="-412115">
              <a:lnSpc>
                <a:spcPts val="3400"/>
              </a:lnSpc>
              <a:spcBef>
                <a:spcPts val="434"/>
              </a:spcBef>
              <a:buChar char="•"/>
              <a:tabLst>
                <a:tab pos="426084" algn="l"/>
              </a:tabLst>
            </a:pPr>
            <a:r>
              <a:rPr sz="3050" dirty="0">
                <a:latin typeface="Cambria"/>
                <a:cs typeface="Cambria"/>
              </a:rPr>
              <a:t>Current</a:t>
            </a:r>
            <a:r>
              <a:rPr sz="3050" spc="270" dirty="0">
                <a:latin typeface="Cambria"/>
                <a:cs typeface="Cambria"/>
              </a:rPr>
              <a:t> </a:t>
            </a:r>
            <a:r>
              <a:rPr sz="3050" spc="105" dirty="0">
                <a:latin typeface="Cambria"/>
                <a:cs typeface="Cambria"/>
              </a:rPr>
              <a:t>State:</a:t>
            </a:r>
            <a:r>
              <a:rPr sz="3050" spc="80" dirty="0">
                <a:latin typeface="Cambria"/>
                <a:cs typeface="Cambria"/>
              </a:rPr>
              <a:t> </a:t>
            </a:r>
            <a:r>
              <a:rPr sz="3050" spc="-70" dirty="0">
                <a:latin typeface="Cambria"/>
                <a:cs typeface="Cambria"/>
              </a:rPr>
              <a:t>Microwave 	</a:t>
            </a:r>
            <a:r>
              <a:rPr sz="3050" spc="50" dirty="0">
                <a:latin typeface="Cambria"/>
                <a:cs typeface="Cambria"/>
              </a:rPr>
              <a:t>Sensors</a:t>
            </a:r>
            <a:r>
              <a:rPr sz="3050" spc="204" dirty="0">
                <a:latin typeface="Cambria"/>
                <a:cs typeface="Cambria"/>
              </a:rPr>
              <a:t> </a:t>
            </a:r>
            <a:r>
              <a:rPr sz="3050" spc="65" dirty="0">
                <a:latin typeface="Cambria"/>
                <a:cs typeface="Cambria"/>
              </a:rPr>
              <a:t>+</a:t>
            </a:r>
            <a:r>
              <a:rPr sz="3050" spc="85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Deterministic 	</a:t>
            </a:r>
            <a:r>
              <a:rPr sz="3050" spc="-10" dirty="0">
                <a:latin typeface="Cambria"/>
                <a:cs typeface="Cambria"/>
              </a:rPr>
              <a:t>XGBoost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23369" y="8228894"/>
            <a:ext cx="3945254" cy="13550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21640" marR="5080" indent="-409575">
              <a:lnSpc>
                <a:spcPts val="3400"/>
              </a:lnSpc>
              <a:spcBef>
                <a:spcPts val="434"/>
              </a:spcBef>
              <a:buChar char="•"/>
              <a:tabLst>
                <a:tab pos="427355" algn="l"/>
                <a:tab pos="2136140" algn="l"/>
              </a:tabLst>
            </a:pPr>
            <a:r>
              <a:rPr sz="3050" dirty="0">
                <a:latin typeface="Cambria"/>
                <a:cs typeface="Cambria"/>
              </a:rPr>
              <a:t>The</a:t>
            </a:r>
            <a:r>
              <a:rPr sz="3050" spc="310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Problem:</a:t>
            </a:r>
            <a:r>
              <a:rPr sz="3050" spc="37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Point 	estimates</a:t>
            </a:r>
            <a:r>
              <a:rPr sz="3050" dirty="0">
                <a:latin typeface="Cambria"/>
                <a:cs typeface="Cambria"/>
              </a:rPr>
              <a:t>	hide</a:t>
            </a:r>
            <a:r>
              <a:rPr sz="3050" spc="-30" dirty="0">
                <a:latin typeface="Cambria"/>
                <a:cs typeface="Cambria"/>
              </a:rPr>
              <a:t> </a:t>
            </a:r>
            <a:r>
              <a:rPr sz="3050" spc="-90" dirty="0">
                <a:latin typeface="Cambria"/>
                <a:cs typeface="Cambria"/>
              </a:rPr>
              <a:t>model 	</a:t>
            </a:r>
            <a:r>
              <a:rPr sz="3050" spc="-10" dirty="0">
                <a:latin typeface="Cambria"/>
                <a:cs typeface="Cambria"/>
              </a:rPr>
              <a:t>doubt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980848" y="8228894"/>
            <a:ext cx="4140200" cy="13550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26720" marR="5080" indent="-414655">
              <a:lnSpc>
                <a:spcPts val="3400"/>
              </a:lnSpc>
              <a:spcBef>
                <a:spcPts val="434"/>
              </a:spcBef>
              <a:buChar char="•"/>
              <a:tabLst>
                <a:tab pos="426720" algn="l"/>
                <a:tab pos="432434" algn="l"/>
              </a:tabLst>
            </a:pPr>
            <a:r>
              <a:rPr sz="3050" dirty="0">
                <a:latin typeface="Arial MT"/>
                <a:cs typeface="Arial MT"/>
              </a:rPr>
              <a:t>	Clinical</a:t>
            </a:r>
            <a:r>
              <a:rPr sz="3050" spc="-5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Need:</a:t>
            </a:r>
            <a:r>
              <a:rPr sz="3050" spc="-35" dirty="0">
                <a:latin typeface="Arial MT"/>
                <a:cs typeface="Arial MT"/>
              </a:rPr>
              <a:t> </a:t>
            </a:r>
            <a:r>
              <a:rPr sz="3050" spc="-120" dirty="0">
                <a:latin typeface="Arial MT"/>
                <a:cs typeface="Arial MT"/>
              </a:rPr>
              <a:t>System </a:t>
            </a:r>
            <a:r>
              <a:rPr sz="3050" dirty="0">
                <a:latin typeface="Arial MT"/>
                <a:cs typeface="Arial MT"/>
              </a:rPr>
              <a:t>must</a:t>
            </a:r>
            <a:r>
              <a:rPr sz="3050" spc="-190" dirty="0"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flag</a:t>
            </a:r>
            <a:r>
              <a:rPr sz="3050" spc="-195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uncertain predictions</a:t>
            </a:r>
            <a:endParaRPr sz="3050" dirty="0">
              <a:latin typeface="Arial MT"/>
              <a:cs typeface="Arial M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989F167-9B16-EC8B-D57A-0269C68B1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5469" y="1282699"/>
            <a:ext cx="7772400" cy="6671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5041900"/>
            <a:ext cx="7048500" cy="42545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27106" y="503413"/>
            <a:ext cx="15659094" cy="10483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95" dirty="0"/>
              <a:t>Methodology:</a:t>
            </a:r>
            <a:r>
              <a:rPr spc="-290" dirty="0"/>
              <a:t> </a:t>
            </a:r>
            <a:r>
              <a:rPr spc="-150" dirty="0">
                <a:solidFill>
                  <a:srgbClr val="181818"/>
                </a:solidFill>
              </a:rPr>
              <a:t>From</a:t>
            </a:r>
            <a:r>
              <a:rPr spc="-315" dirty="0">
                <a:solidFill>
                  <a:srgbClr val="181818"/>
                </a:solidFill>
              </a:rPr>
              <a:t> </a:t>
            </a:r>
            <a:r>
              <a:rPr spc="-20" dirty="0">
                <a:solidFill>
                  <a:srgbClr val="181818"/>
                </a:solidFill>
              </a:rPr>
              <a:t>Black</a:t>
            </a:r>
            <a:r>
              <a:rPr spc="-409" dirty="0">
                <a:solidFill>
                  <a:srgbClr val="181818"/>
                </a:solidFill>
              </a:rPr>
              <a:t> </a:t>
            </a:r>
            <a:r>
              <a:rPr spc="-25" dirty="0">
                <a:solidFill>
                  <a:srgbClr val="151515"/>
                </a:solidFill>
              </a:rPr>
              <a:t>Box</a:t>
            </a:r>
            <a:r>
              <a:rPr lang="en-US" spc="-25" dirty="0">
                <a:solidFill>
                  <a:srgbClr val="151515"/>
                </a:solidFill>
              </a:rPr>
              <a:t> to Bayesian</a:t>
            </a:r>
            <a:endParaRPr spc="-25" dirty="0">
              <a:solidFill>
                <a:srgbClr val="151515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15595" y="5995458"/>
            <a:ext cx="7493634" cy="2286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dirty="0">
                <a:latin typeface="Arial MT"/>
                <a:cs typeface="Arial MT"/>
              </a:rPr>
              <a:t>Data</a:t>
            </a:r>
            <a:r>
              <a:rPr sz="3550" spc="-245" dirty="0">
                <a:latin typeface="Arial MT"/>
                <a:cs typeface="Arial MT"/>
              </a:rPr>
              <a:t> </a:t>
            </a:r>
            <a:r>
              <a:rPr sz="3550" spc="-10" dirty="0">
                <a:latin typeface="Arial MT"/>
                <a:cs typeface="Arial MT"/>
              </a:rPr>
              <a:t>Sources:</a:t>
            </a:r>
            <a:endParaRPr sz="3550">
              <a:latin typeface="Arial MT"/>
              <a:cs typeface="Arial MT"/>
            </a:endParaRPr>
          </a:p>
          <a:p>
            <a:pPr marL="669925" indent="-329565">
              <a:lnSpc>
                <a:spcPct val="100000"/>
              </a:lnSpc>
              <a:spcBef>
                <a:spcPts val="190"/>
              </a:spcBef>
              <a:buChar char="•"/>
              <a:tabLst>
                <a:tab pos="669925" algn="l"/>
              </a:tabLst>
            </a:pPr>
            <a:r>
              <a:rPr sz="3600" spc="-114" dirty="0">
                <a:latin typeface="Arial MT"/>
                <a:cs typeface="Arial MT"/>
              </a:rPr>
              <a:t>Homogeneous</a:t>
            </a:r>
            <a:r>
              <a:rPr sz="3600" spc="-95" dirty="0">
                <a:latin typeface="Arial MT"/>
                <a:cs typeface="Arial MT"/>
              </a:rPr>
              <a:t> </a:t>
            </a:r>
            <a:r>
              <a:rPr sz="3600" spc="-45" dirty="0">
                <a:latin typeface="Arial MT"/>
                <a:cs typeface="Arial MT"/>
              </a:rPr>
              <a:t>Liquid</a:t>
            </a:r>
            <a:r>
              <a:rPr sz="3600" spc="-204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Phantoms</a:t>
            </a:r>
            <a:endParaRPr sz="3600">
              <a:latin typeface="Arial MT"/>
              <a:cs typeface="Arial MT"/>
            </a:endParaRPr>
          </a:p>
          <a:p>
            <a:pPr marL="671195" indent="-318135">
              <a:lnSpc>
                <a:spcPct val="100000"/>
              </a:lnSpc>
              <a:spcBef>
                <a:spcPts val="229"/>
              </a:spcBef>
              <a:buChar char="•"/>
              <a:tabLst>
                <a:tab pos="671195" algn="l"/>
              </a:tabLst>
            </a:pPr>
            <a:r>
              <a:rPr sz="3550" spc="-160" dirty="0">
                <a:latin typeface="Arial MT"/>
                <a:cs typeface="Arial MT"/>
              </a:rPr>
              <a:t>Ex</a:t>
            </a:r>
            <a:r>
              <a:rPr sz="3550" spc="-85" dirty="0">
                <a:latin typeface="Arial MT"/>
                <a:cs typeface="Arial MT"/>
              </a:rPr>
              <a:t> </a:t>
            </a:r>
            <a:r>
              <a:rPr sz="3550" spc="-125" dirty="0">
                <a:latin typeface="Arial MT"/>
                <a:cs typeface="Arial MT"/>
              </a:rPr>
              <a:t>Vivo </a:t>
            </a:r>
            <a:r>
              <a:rPr sz="3550" spc="-90" dirty="0">
                <a:latin typeface="Arial MT"/>
                <a:cs typeface="Arial MT"/>
              </a:rPr>
              <a:t>Porcine</a:t>
            </a:r>
            <a:r>
              <a:rPr sz="3550" spc="-160" dirty="0">
                <a:latin typeface="Arial MT"/>
                <a:cs typeface="Arial MT"/>
              </a:rPr>
              <a:t> </a:t>
            </a:r>
            <a:r>
              <a:rPr sz="3550" spc="-80" dirty="0">
                <a:latin typeface="Arial MT"/>
                <a:cs typeface="Arial MT"/>
              </a:rPr>
              <a:t>Respiratory</a:t>
            </a:r>
            <a:r>
              <a:rPr sz="3550" spc="-45" dirty="0">
                <a:latin typeface="Arial MT"/>
                <a:cs typeface="Arial MT"/>
              </a:rPr>
              <a:t> </a:t>
            </a:r>
            <a:r>
              <a:rPr sz="3550" spc="-80" dirty="0">
                <a:latin typeface="Arial MT"/>
                <a:cs typeface="Arial MT"/>
              </a:rPr>
              <a:t>Organs</a:t>
            </a:r>
            <a:endParaRPr sz="3550">
              <a:latin typeface="Arial MT"/>
              <a:cs typeface="Arial MT"/>
            </a:endParaRPr>
          </a:p>
          <a:p>
            <a:pPr marL="679450" indent="-326390">
              <a:lnSpc>
                <a:spcPct val="100000"/>
              </a:lnSpc>
              <a:spcBef>
                <a:spcPts val="290"/>
              </a:spcBef>
              <a:buChar char="•"/>
              <a:tabLst>
                <a:tab pos="679450" algn="l"/>
              </a:tabLst>
            </a:pPr>
            <a:r>
              <a:rPr sz="3550" spc="-114" dirty="0">
                <a:latin typeface="Arial MT"/>
                <a:cs typeface="Arial MT"/>
              </a:rPr>
              <a:t>Volunteer</a:t>
            </a:r>
            <a:r>
              <a:rPr sz="3550" spc="-120" dirty="0">
                <a:latin typeface="Arial MT"/>
                <a:cs typeface="Arial MT"/>
              </a:rPr>
              <a:t> </a:t>
            </a:r>
            <a:r>
              <a:rPr sz="3550" spc="-40" dirty="0">
                <a:latin typeface="Arial MT"/>
                <a:cs typeface="Arial MT"/>
              </a:rPr>
              <a:t>Measurements</a:t>
            </a:r>
            <a:endParaRPr sz="3550">
              <a:latin typeface="Arial MT"/>
              <a:cs typeface="Arial M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8785BB-4966-5D61-52F7-6C6481334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04" y="1555090"/>
            <a:ext cx="15486421" cy="2860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43360" y="798688"/>
            <a:ext cx="1532826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850" spc="95">
                <a:solidFill>
                  <a:srgbClr val="1A1A1A"/>
                </a:solidFill>
              </a:rPr>
              <a:t>Expected </a:t>
            </a:r>
            <a:r>
              <a:rPr lang="en-US" sz="4850" spc="100">
                <a:solidFill>
                  <a:srgbClr val="181818"/>
                </a:solidFill>
              </a:rPr>
              <a:t>Outcome:</a:t>
            </a:r>
            <a:r>
              <a:rPr lang="en-US" sz="4850" spc="190">
                <a:solidFill>
                  <a:srgbClr val="181818"/>
                </a:solidFill>
              </a:rPr>
              <a:t> </a:t>
            </a:r>
            <a:r>
              <a:rPr lang="en-US" sz="4850">
                <a:solidFill>
                  <a:srgbClr val="181818"/>
                </a:solidFill>
              </a:rPr>
              <a:t>Enabling</a:t>
            </a:r>
            <a:r>
              <a:rPr lang="en-US" sz="4850" spc="305">
                <a:solidFill>
                  <a:srgbClr val="181818"/>
                </a:solidFill>
              </a:rPr>
              <a:t> </a:t>
            </a:r>
            <a:r>
              <a:rPr lang="en-US" sz="4850">
                <a:solidFill>
                  <a:srgbClr val="181818"/>
                </a:solidFill>
              </a:rPr>
              <a:t>Safe</a:t>
            </a:r>
            <a:r>
              <a:rPr lang="en-US" sz="4850" spc="105">
                <a:solidFill>
                  <a:srgbClr val="181818"/>
                </a:solidFill>
              </a:rPr>
              <a:t> </a:t>
            </a:r>
            <a:r>
              <a:rPr lang="en-US" sz="4850" spc="90">
                <a:solidFill>
                  <a:srgbClr val="1A1A1A"/>
                </a:solidFill>
              </a:rPr>
              <a:t>Clinical</a:t>
            </a:r>
            <a:r>
              <a:rPr lang="en-US" sz="4850" spc="210">
                <a:solidFill>
                  <a:srgbClr val="1A1A1A"/>
                </a:solidFill>
              </a:rPr>
              <a:t> </a:t>
            </a:r>
            <a:r>
              <a:rPr lang="en-US" sz="4850" spc="-10">
                <a:solidFill>
                  <a:srgbClr val="181818"/>
                </a:solidFill>
              </a:rPr>
              <a:t>Translation</a:t>
            </a:r>
            <a:endParaRPr lang="en-US" sz="4850"/>
          </a:p>
        </p:txBody>
      </p:sp>
      <p:sp>
        <p:nvSpPr>
          <p:cNvPr id="10" name="object 10"/>
          <p:cNvSpPr txBox="1"/>
          <p:nvPr/>
        </p:nvSpPr>
        <p:spPr>
          <a:xfrm>
            <a:off x="11215562" y="3015897"/>
            <a:ext cx="5140325" cy="4612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indent="-396240">
              <a:lnSpc>
                <a:spcPts val="3965"/>
              </a:lnSpc>
              <a:spcBef>
                <a:spcPts val="100"/>
              </a:spcBef>
              <a:buClr>
                <a:srgbClr val="1A1A1A"/>
              </a:buClr>
              <a:buChar char="•"/>
              <a:tabLst>
                <a:tab pos="409575" algn="l"/>
              </a:tabLst>
            </a:pPr>
            <a:r>
              <a:rPr lang="en-US" sz="3400">
                <a:latin typeface="Arial MT"/>
                <a:cs typeface="Arial MT"/>
              </a:rPr>
              <a:t>Deliverable:</a:t>
            </a:r>
            <a:r>
              <a:rPr lang="en-US" sz="3400" spc="-20">
                <a:latin typeface="Arial MT"/>
                <a:cs typeface="Arial MT"/>
              </a:rPr>
              <a:t> </a:t>
            </a:r>
            <a:r>
              <a:rPr lang="en-US" sz="3400">
                <a:latin typeface="Arial MT"/>
                <a:cs typeface="Arial MT"/>
              </a:rPr>
              <a:t>Clinical</a:t>
            </a:r>
            <a:r>
              <a:rPr lang="en-US" sz="3400" spc="-70">
                <a:latin typeface="Arial MT"/>
                <a:cs typeface="Arial MT"/>
              </a:rPr>
              <a:t> </a:t>
            </a:r>
            <a:r>
              <a:rPr lang="en-US" sz="3400" spc="-25">
                <a:latin typeface="Arial MT"/>
                <a:cs typeface="Arial MT"/>
              </a:rPr>
              <a:t>Risk</a:t>
            </a:r>
            <a:endParaRPr lang="en-US" sz="3400">
              <a:latin typeface="Arial MT"/>
              <a:cs typeface="Arial MT"/>
            </a:endParaRPr>
          </a:p>
          <a:p>
            <a:pPr marL="409575">
              <a:lnSpc>
                <a:spcPts val="4145"/>
              </a:lnSpc>
            </a:pPr>
            <a:r>
              <a:rPr lang="en-US" sz="3550" spc="-10">
                <a:latin typeface="Arial MT"/>
                <a:cs typeface="Arial MT"/>
              </a:rPr>
              <a:t>Score</a:t>
            </a:r>
            <a:endParaRPr lang="en-US" sz="3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3550">
              <a:latin typeface="Arial MT"/>
              <a:cs typeface="Arial MT"/>
            </a:endParaRPr>
          </a:p>
          <a:p>
            <a:pPr marL="410209" marR="21590" indent="-397510">
              <a:lnSpc>
                <a:spcPts val="4000"/>
              </a:lnSpc>
              <a:buClr>
                <a:srgbClr val="181818"/>
              </a:buClr>
              <a:buChar char="•"/>
              <a:tabLst>
                <a:tab pos="413384" algn="l"/>
              </a:tabLst>
            </a:pPr>
            <a:r>
              <a:rPr lang="en-US" sz="3450">
                <a:latin typeface="Arial MT"/>
                <a:cs typeface="Arial MT"/>
              </a:rPr>
              <a:t>Mechanism:</a:t>
            </a:r>
            <a:r>
              <a:rPr lang="en-US" sz="3450" spc="-35">
                <a:latin typeface="Arial MT"/>
                <a:cs typeface="Arial MT"/>
              </a:rPr>
              <a:t> </a:t>
            </a:r>
            <a:r>
              <a:rPr lang="en-US" sz="3450" spc="-10">
                <a:latin typeface="Arial MT"/>
                <a:cs typeface="Arial MT"/>
              </a:rPr>
              <a:t>Automated 	</a:t>
            </a:r>
            <a:r>
              <a:rPr lang="en-US" sz="3450">
                <a:latin typeface="Arial MT"/>
                <a:cs typeface="Arial MT"/>
              </a:rPr>
              <a:t>flags</a:t>
            </a:r>
            <a:r>
              <a:rPr lang="en-US" sz="3450" spc="-140">
                <a:latin typeface="Arial MT"/>
                <a:cs typeface="Arial MT"/>
              </a:rPr>
              <a:t> </a:t>
            </a:r>
            <a:r>
              <a:rPr lang="en-US" sz="3450">
                <a:latin typeface="Arial MT"/>
                <a:cs typeface="Arial MT"/>
              </a:rPr>
              <a:t>for</a:t>
            </a:r>
            <a:r>
              <a:rPr lang="en-US" sz="3450" spc="-95">
                <a:latin typeface="Arial MT"/>
                <a:cs typeface="Arial MT"/>
              </a:rPr>
              <a:t> </a:t>
            </a:r>
            <a:r>
              <a:rPr lang="en-US" sz="3450">
                <a:latin typeface="Arial MT"/>
                <a:cs typeface="Arial MT"/>
              </a:rPr>
              <a:t>high</a:t>
            </a:r>
            <a:r>
              <a:rPr lang="en-US" sz="3450" spc="-100">
                <a:latin typeface="Arial MT"/>
                <a:cs typeface="Arial MT"/>
              </a:rPr>
              <a:t> </a:t>
            </a:r>
            <a:r>
              <a:rPr lang="en-US" sz="3450" spc="-30">
                <a:latin typeface="Arial MT"/>
                <a:cs typeface="Arial MT"/>
              </a:rPr>
              <a:t>uncertainty</a:t>
            </a:r>
            <a:endParaRPr lang="en-US"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lang="en-US" sz="3450">
              <a:latin typeface="Arial MT"/>
              <a:cs typeface="Arial MT"/>
            </a:endParaRPr>
          </a:p>
          <a:p>
            <a:pPr marL="387985" marR="53975" indent="-375920">
              <a:lnSpc>
                <a:spcPts val="4000"/>
              </a:lnSpc>
              <a:buClr>
                <a:srgbClr val="1C1C1C"/>
              </a:buClr>
              <a:buChar char="•"/>
              <a:tabLst>
                <a:tab pos="400685" algn="l"/>
              </a:tabLst>
            </a:pPr>
            <a:r>
              <a:rPr lang="en-US" sz="3550" spc="45">
                <a:latin typeface="Arial MT"/>
                <a:cs typeface="Arial MT"/>
              </a:rPr>
              <a:t>Impact:</a:t>
            </a:r>
            <a:r>
              <a:rPr lang="en-US" sz="3550" spc="-165">
                <a:latin typeface="Arial MT"/>
                <a:cs typeface="Arial MT"/>
              </a:rPr>
              <a:t> </a:t>
            </a:r>
            <a:r>
              <a:rPr lang="en-US" sz="3550" spc="-70">
                <a:latin typeface="Arial MT"/>
                <a:cs typeface="Arial MT"/>
              </a:rPr>
              <a:t>Bridges</a:t>
            </a:r>
            <a:r>
              <a:rPr lang="en-US" sz="3550" spc="-5">
                <a:latin typeface="Arial MT"/>
                <a:cs typeface="Arial MT"/>
              </a:rPr>
              <a:t> </a:t>
            </a:r>
            <a:r>
              <a:rPr lang="en-US" sz="355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lang="en-US" sz="3550" spc="-1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lang="en-US" sz="3550" spc="-45">
                <a:latin typeface="Arial MT"/>
                <a:cs typeface="Arial MT"/>
              </a:rPr>
              <a:t>gap 	</a:t>
            </a:r>
            <a:r>
              <a:rPr lang="en-US" sz="3550" spc="-50">
                <a:latin typeface="Arial MT"/>
                <a:cs typeface="Arial MT"/>
              </a:rPr>
              <a:t>between</a:t>
            </a:r>
            <a:r>
              <a:rPr lang="en-US" sz="3550" spc="-175">
                <a:latin typeface="Arial MT"/>
                <a:cs typeface="Arial MT"/>
              </a:rPr>
              <a:t> </a:t>
            </a:r>
            <a:r>
              <a:rPr lang="en-US" sz="3550" spc="-75">
                <a:latin typeface="Arial MT"/>
                <a:cs typeface="Arial MT"/>
              </a:rPr>
              <a:t>lab</a:t>
            </a:r>
            <a:r>
              <a:rPr lang="en-US" sz="3550" spc="-170">
                <a:latin typeface="Arial MT"/>
                <a:cs typeface="Arial MT"/>
              </a:rPr>
              <a:t> </a:t>
            </a:r>
            <a:r>
              <a:rPr lang="en-US" sz="3550" spc="-10">
                <a:latin typeface="Arial MT"/>
                <a:cs typeface="Arial MT"/>
              </a:rPr>
              <a:t>capability 	</a:t>
            </a:r>
            <a:r>
              <a:rPr lang="en-US" sz="3550" spc="-20">
                <a:latin typeface="Arial MT"/>
                <a:cs typeface="Arial MT"/>
              </a:rPr>
              <a:t>and</a:t>
            </a:r>
            <a:r>
              <a:rPr lang="en-US" sz="3550" spc="-229">
                <a:latin typeface="Arial MT"/>
                <a:cs typeface="Arial MT"/>
              </a:rPr>
              <a:t> </a:t>
            </a:r>
            <a:r>
              <a:rPr lang="en-US" sz="3550" spc="-40">
                <a:latin typeface="Arial MT"/>
                <a:cs typeface="Arial MT"/>
              </a:rPr>
              <a:t>patient</a:t>
            </a:r>
            <a:r>
              <a:rPr lang="en-US" sz="3550" spc="-125">
                <a:latin typeface="Arial MT"/>
                <a:cs typeface="Arial MT"/>
              </a:rPr>
              <a:t> </a:t>
            </a:r>
            <a:r>
              <a:rPr lang="en-US" sz="3550" spc="-10">
                <a:latin typeface="Arial MT"/>
                <a:cs typeface="Arial MT"/>
              </a:rPr>
              <a:t>safety</a:t>
            </a:r>
            <a:endParaRPr lang="en-US" sz="355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9FB92-88D6-24E9-DAAC-51798E1E8452}"/>
              </a:ext>
            </a:extLst>
          </p:cNvPr>
          <p:cNvSpPr txBox="1"/>
          <p:nvPr/>
        </p:nvSpPr>
        <p:spPr>
          <a:xfrm>
            <a:off x="1524000" y="22533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C3722B-7202-DA44-D606-BB25D8C5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905000"/>
            <a:ext cx="9562354" cy="670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149</Words>
  <Application>Microsoft Macintosh PowerPoint</Application>
  <PresentationFormat>Custom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Cambria</vt:lpstr>
      <vt:lpstr>Times New Roman</vt:lpstr>
      <vt:lpstr>Office Theme</vt:lpstr>
      <vt:lpstr>Uncertainty-Aware Machine Learning for Microwave-Based Body Composition Assessment</vt:lpstr>
      <vt:lpstr>The ‘Trust Gap’ in Clinical Al</vt:lpstr>
      <vt:lpstr>Methodology: From Black Box to Bayesian</vt:lpstr>
      <vt:lpstr>Expected Outcome: Enabling Safe Clinical Translation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Yadav</cp:lastModifiedBy>
  <cp:revision>1</cp:revision>
  <dcterms:created xsi:type="dcterms:W3CDTF">2026-01-19T14:13:32Z</dcterms:created>
  <dcterms:modified xsi:type="dcterms:W3CDTF">2026-01-19T14:53:29Z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2026-01-19T00:00:00Z</vt:filetime>
  </property>
  <property fmtid="{D5CDD505-2E9C-101B-9397-08002B2CF9AE}" pid="3" name="LastSaved">
    <vt:filetime>2026-01-19T00:00:00Z</vt:filetime>
  </property>
</Properties>
</file>